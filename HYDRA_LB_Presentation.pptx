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7ZuvhkXg0PNgyeyOXTDMw5gBE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font" Target="fonts/GillSans-regular.fntdata"/><Relationship Id="rId18" Type="http://schemas.openxmlformats.org/officeDocument/2006/relationships/font" Target="fonts/GillSans-bold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6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8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18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9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2000"/>
              <a:buFont typeface="Gill Sans"/>
              <a:buNone/>
              <a:defRPr b="0" sz="2000"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21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4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3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599224" y="1580660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Gill Sans"/>
              <a:buNone/>
            </a:pPr>
            <a:r>
              <a:rPr sz="2400" b="1"/>
              <a:t>HYDRA-LB: An LSTM-Based Proactive Load Balancing
Framework for Multi-Controller SDN</a:t>
            </a:r>
            <a:endParaRPr b="1" sz="2800">
              <a:solidFill>
                <a:srgbClr val="390E26"/>
              </a:solidFill>
            </a:endParaRPr>
          </a:p>
          <a:p>
            <a:pPr>
              <a:spcBef>
                <a:spcPts val="1200"/>
              </a:spcBef>
            </a:pPr>
            <a:r>
              <a:rPr sz="1400" b="0"/>
              <a:t>
[Author 1, Author 2, Author 3, Author 4, Author 5, Author 6]</a:t>
            </a:r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025028" y="3998721"/>
            <a:ext cx="10058400" cy="87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sz="1200"/>
              <a:t>PRESENTED BY — Presenter Name (Department of CSE)</a:t>
            </a:r>
            <a:endParaRPr b="1" sz="2400">
              <a:solidFill>
                <a:schemeClr val="lt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1"/>
          <p:cNvSpPr txBox="1"/>
          <p:nvPr>
            <p:ph idx="11" type="ftr"/>
          </p:nvPr>
        </p:nvSpPr>
        <p:spPr>
          <a:xfrm>
            <a:off x="2119630" y="6422390"/>
            <a:ext cx="7952740" cy="34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/>
              <a:t>                </a:t>
            </a:r>
            <a:endParaRPr b="1" sz="1100"/>
          </a:p>
        </p:txBody>
      </p:sp>
      <p:sp>
        <p:nvSpPr>
          <p:cNvPr id="104" name="Google Shape;104;p1"/>
          <p:cNvSpPr txBox="1"/>
          <p:nvPr>
            <p:ph idx="10" type="dt"/>
          </p:nvPr>
        </p:nvSpPr>
        <p:spPr>
          <a:xfrm>
            <a:off x="4466026" y="585149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lt1"/>
                </a:solidFill>
              </a:rPr>
              <a:t>19/01/2026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05" name="Google Shape;105;p1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lt1"/>
                </a:solidFill>
              </a:rPr>
              <a:t>‹#›</a:t>
            </a:fld>
            <a:endParaRPr sz="1200">
              <a:solidFill>
                <a:schemeClr val="lt1"/>
              </a:solidFill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3777935" y="114100"/>
            <a:ext cx="8726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0" i="0" lang="en-IN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1" i="0" lang="en-IN" sz="1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MINI PROJECT - 2026</a:t>
            </a:r>
            <a:endParaRPr b="1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9662" y="613938"/>
            <a:ext cx="4317526" cy="104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1433788" y="480358"/>
            <a:ext cx="9324423" cy="1012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PRESENTATION OUTLINE</a:t>
            </a:r>
            <a:endParaRPr b="1"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1365550" y="2066570"/>
            <a:ext cx="10018713" cy="48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800"/>
              <a:t>Introduction &amp; Background</a:t>
            </a:r>
            <a:endParaRPr/>
          </a:p>
          <a:p>
            <a:pPr/>
            <a:r>
              <a:rPr sz="1800"/>
              <a:t>Literature Review</a:t>
            </a:r>
          </a:p>
          <a:p>
            <a:pPr/>
            <a:r>
              <a:rPr sz="1800"/>
              <a:t>Problem Formulation</a:t>
            </a:r>
          </a:p>
          <a:p>
            <a:pPr/>
            <a:r>
              <a:rPr sz="1800"/>
              <a:t>Novelty of HYDRA-LB</a:t>
            </a:r>
          </a:p>
          <a:p>
            <a:pPr/>
            <a:r>
              <a:rPr sz="1800"/>
              <a:t>Proposed Method &amp; System Architecture</a:t>
            </a:r>
          </a:p>
          <a:p>
            <a:pPr/>
            <a:r>
              <a:rPr sz="1800"/>
              <a:t>Simulation Platform &amp; Experimental Setup</a:t>
            </a:r>
          </a:p>
          <a:p>
            <a:pPr/>
            <a:r>
              <a:rPr sz="1800"/>
              <a:t>Experimental Results &amp; Analysis</a:t>
            </a:r>
          </a:p>
          <a:p>
            <a:pPr/>
            <a:r>
              <a:rPr sz="1800"/>
              <a:t>Conclusion &amp; Future Work</a:t>
            </a:r>
          </a:p>
          <a:p>
            <a:pPr/>
            <a:r>
              <a:rPr sz="1800"/>
              <a:t>Bibliography</a:t>
            </a:r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2306472" y="6304459"/>
            <a:ext cx="84517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/>
              <a:t> </a:t>
            </a:r>
            <a:endParaRPr b="1" sz="1100"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1646261" y="564921"/>
            <a:ext cx="9094234" cy="8467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INTRODUCTION</a:t>
            </a:r>
            <a:endParaRPr b="1"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1375128" y="1992022"/>
            <a:ext cx="10018713" cy="500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500"/>
              <a:t>Software-Defined Networking (SDN) decouples control plane from data plane, enabling centralized programmable network control</a:t>
            </a:r>
            <a:endParaRPr/>
          </a:p>
          <a:p>
            <a:pPr/>
            <a:r>
              <a:rPr sz="1500"/>
              <a:t>Single-controller SDN becomes a bottleneck at scale — multi-controller deployments distribute control across instances</a:t>
            </a:r>
          </a:p>
          <a:p>
            <a:pPr/>
            <a:r>
              <a:rPr sz="1500"/>
              <a:t>Challenge: Dynamic traffic causes uneven controller load (bursts, flash crowds, skewed distributions)</a:t>
            </a:r>
          </a:p>
          <a:p>
            <a:pPr/>
            <a:r>
              <a:rPr sz="1500"/>
              <a:t>Traditional reactive approaches (Round Robin, Least Load) respond only AFTER imbalance occurs</a:t>
            </a:r>
          </a:p>
          <a:p>
            <a:pPr/>
            <a:r>
              <a:rPr sz="1500"/>
              <a:t>Leads to packet drops, elevated latency, and oscillatory behavior</a:t>
            </a:r>
          </a:p>
          <a:p>
            <a:pPr/>
            <a:r>
              <a:rPr sz="1500"/>
              <a:t>Need: A PROACTIVE system that PREDICTS load and rebalances BEFORE congestion</a:t>
            </a:r>
          </a:p>
          <a:p>
            <a:pPr/>
            <a:r>
              <a:rPr sz="1500"/>
              <a:t>HYDRA-LB: Uses LSTM neural networks with temporal attention to forecast controller load 3–5 seconds ahead and trigger preemptive switch migration</a:t>
            </a:r>
          </a:p>
        </p:txBody>
      </p:sp>
      <p:sp>
        <p:nvSpPr>
          <p:cNvPr id="122" name="Google Shape;122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1484311" y="799755"/>
            <a:ext cx="9323598" cy="7129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LITERATURE REVIEW</a:t>
            </a:r>
            <a:endParaRPr b="1"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1484311" y="2004134"/>
            <a:ext cx="10018713" cy="476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400"/>
              <a:t>Traditional Load Balancing:</a:t>
            </a:r>
            <a:endParaRPr/>
          </a:p>
          <a:p>
            <a:pPr/>
            <a:r>
              <a:rPr sz="1400"/>
              <a:t>Schaerf et al. (1994) — Multi-agent learning for adaptive LB</a:t>
            </a:r>
          </a:p>
          <a:p>
            <a:pPr/>
            <a:r>
              <a:rPr sz="1400"/>
              <a:t>Aweya et al. (2002) — Adaptive web server scheme</a:t>
            </a:r>
          </a:p>
          <a:p>
            <a:pPr/>
            <a:r>
              <a:rPr sz="1400"/>
              <a:t>Borzemski et al. (2007) — Intelligent CDN request routing</a:t>
            </a:r>
          </a:p>
          <a:p>
            <a:pPr/>
            <a:r>
              <a:rPr sz="1400"/>
              <a:t>SDN-Based LB:</a:t>
            </a:r>
          </a:p>
          <a:p>
            <a:pPr/>
            <a:r>
              <a:rPr sz="1400"/>
              <a:t>Farahi (2025) — Comprehensive SDN LB survey</a:t>
            </a:r>
          </a:p>
          <a:p>
            <a:pPr/>
            <a:r>
              <a:rPr sz="1400"/>
              <a:t>Belgaum et al. (2020) — Most SDN LBs lack prediction</a:t>
            </a:r>
          </a:p>
          <a:p>
            <a:pPr/>
            <a:r>
              <a:rPr sz="1400"/>
              <a:t>Praveen et al. (2022) — Adaptive multi-controller assignment</a:t>
            </a:r>
          </a:p>
          <a:p>
            <a:pPr/>
            <a:r>
              <a:rPr sz="1400"/>
              <a:t>Chaudhary &amp; Kumar (2019) — LOADS: anomaly detection + LB</a:t>
            </a:r>
          </a:p>
          <a:p>
            <a:pPr/>
            <a:r>
              <a:rPr sz="1400"/>
              <a:t>ML-Based Approaches:</a:t>
            </a:r>
          </a:p>
          <a:p>
            <a:pPr/>
            <a:r>
              <a:rPr sz="1400"/>
              <a:t>Hou et al. (2021) — GWO-BP for cloud load prediction</a:t>
            </a:r>
          </a:p>
          <a:p>
            <a:pPr/>
            <a:r>
              <a:rPr sz="1400"/>
              <a:t>Hsu et al. (2021) — Deep learning for vehicular MEC</a:t>
            </a:r>
          </a:p>
          <a:p>
            <a:pPr/>
            <a:r>
              <a:rPr sz="1400"/>
              <a:t>Gap: No LSTM + Attention for SDN controller-level variance-aware proactive LB</a:t>
            </a: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1275978" y="797812"/>
            <a:ext cx="9282322" cy="8599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sz="2800" b="1"/>
              <a:t>PROBLEM FORMULATION</a:t>
            </a:r>
            <a:endParaRPr b="1"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1454839" y="2038671"/>
            <a:ext cx="10018713" cy="4819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500"/>
              <a:t>In multi-controller SDN, switches are statically assigned to controllers</a:t>
            </a:r>
            <a:endParaRPr/>
          </a:p>
          <a:p>
            <a:pPr/>
            <a:r>
              <a:rPr sz="1500"/>
              <a:t>As traffic patterns change, some controllers become overloaded while others remain idle</a:t>
            </a:r>
          </a:p>
          <a:p>
            <a:pPr/>
            <a:r>
              <a:rPr sz="1500"/>
              <a:t>Reactive LB detects imbalance AFTER it occurs → delayed response → packet drops</a:t>
            </a:r>
          </a:p>
          <a:p>
            <a:pPr/>
            <a:r>
              <a:rPr sz="1500"/>
              <a:t>Problem Statement:</a:t>
            </a:r>
          </a:p>
          <a:p>
            <a:pPr/>
            <a:r>
              <a:rPr sz="1500"/>
              <a:t>Given N controllers each managing a subset of switches, dynamically redistribute switches to minimize inter-controller load variance using predicted future load</a:t>
            </a:r>
          </a:p>
          <a:p>
            <a:pPr/>
            <a:r>
              <a:rPr sz="1500"/>
              <a:t>Formal Objective:</a:t>
            </a:r>
          </a:p>
          <a:p>
            <a:pPr/>
            <a:r>
              <a:rPr sz="1500"/>
              <a:t>Minimize: σ²(pred) = (1/N) Σ(L̂ᵢ − L̄)²</a:t>
            </a:r>
          </a:p>
          <a:p>
            <a:pPr/>
            <a:r>
              <a:rPr sz="1500"/>
              <a:t>Subject to: Cooldown constraints, migration cost threshold</a:t>
            </a:r>
          </a:p>
          <a:p>
            <a:pPr/>
            <a:r>
              <a:rPr sz="1500"/>
              <a:t>Where L̂ᵢ is the LSTM-predicted load for controller i at horizon t+3</a:t>
            </a:r>
          </a:p>
          <a:p>
            <a:pPr/>
            <a:r>
              <a:rPr sz="1500"/>
              <a:t>Key Metrics: Load Variance, Response Latency, Migration Count</a:t>
            </a:r>
          </a:p>
        </p:txBody>
      </p:sp>
      <p:sp>
        <p:nvSpPr>
          <p:cNvPr id="136" name="Google Shape;136;p5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375127" y="870842"/>
            <a:ext cx="9323600" cy="659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NOVELTY OF HYDRA-LB</a:t>
            </a:r>
            <a:endParaRPr b="1"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1375127" y="1918646"/>
            <a:ext cx="10018713" cy="475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500"/>
              <a:t>First framework to combine Bidirectional LSTM + Temporal Attention for SDN controller load prediction</a:t>
            </a:r>
            <a:endParaRPr/>
          </a:p>
          <a:p>
            <a:pPr/>
            <a:r>
              <a:rPr sz="1500"/>
              <a:t>Proactive (not reactive): Migrates switches BEFORE overload using 3-second lookahead predictions</a:t>
            </a:r>
          </a:p>
          <a:p>
            <a:pPr/>
            <a:r>
              <a:rPr sz="1500"/>
              <a:t>Variance-aware optimization:</a:t>
            </a:r>
          </a:p>
          <a:p>
            <a:pPr/>
            <a:r>
              <a:rPr sz="1500"/>
              <a:t>Uses population variance (not just max-min) to capture full cluster imbalance</a:t>
            </a:r>
          </a:p>
          <a:p>
            <a:pPr/>
            <a:r>
              <a:rPr sz="1500"/>
              <a:t>Considers migration cost (30% deduction) to prevent unnecessary churn</a:t>
            </a:r>
          </a:p>
          <a:p>
            <a:pPr/>
            <a:r>
              <a:rPr sz="1500"/>
              <a:t>Cooldown mechanism (30s) prevents oscillatory behavior</a:t>
            </a:r>
          </a:p>
          <a:p>
            <a:pPr/>
            <a:r>
              <a:rPr sz="1500"/>
              <a:t>End-to-end integration: Prediction → Decision → OpenFlow Role Change → Verification</a:t>
            </a:r>
          </a:p>
          <a:p>
            <a:pPr/>
            <a:r>
              <a:rPr sz="1500"/>
              <a:t>Fully containerized &amp; reproducible: Docker Compose with Ryu, Mininet, Prometheus, Grafana</a:t>
            </a:r>
          </a:p>
        </p:txBody>
      </p:sp>
      <p:sp>
        <p:nvSpPr>
          <p:cNvPr id="143" name="Google Shape;143;p6"/>
          <p:cNvSpPr txBox="1"/>
          <p:nvPr>
            <p:ph idx="11" type="ftr"/>
          </p:nvPr>
        </p:nvSpPr>
        <p:spPr>
          <a:xfrm>
            <a:off x="3276374" y="6259341"/>
            <a:ext cx="8220856" cy="25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1100"/>
          </a:p>
        </p:txBody>
      </p:sp>
      <p:sp>
        <p:nvSpPr>
          <p:cNvPr id="144" name="Google Shape;144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1486417" y="684913"/>
            <a:ext cx="9323598" cy="6895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PROPOSED METHOD — SYSTEM ARCHITECTURE</a:t>
            </a:r>
            <a:endParaRPr b="1"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1486417" y="1869405"/>
            <a:ext cx="10018713" cy="4791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ctr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400"/>
              <a:t>Three Ryu controllers manage Fat-Tree (k=4) switches via MASTER/SLAVE roles</a:t>
            </a:r>
            <a:endParaRPr/>
          </a:p>
          <a:p>
            <a:pPr/>
            <a:r>
              <a:rPr sz="1400"/>
              <a:t>Each controller runs: Telemetry → Prediction → Optimization pipeline every 1 second</a:t>
            </a:r>
          </a:p>
          <a:p>
            <a:pPr/>
            <a:r>
              <a:rPr sz="1400"/>
              <a:t>Load Score: L = 0.5·Lp + 0.3·Lf + 0.2·Ls (packet, flow, switch components)</a:t>
            </a:r>
          </a:p>
          <a:p>
            <a:pPr/>
            <a:r>
              <a:rPr sz="1400"/>
              <a:t>BiLSTM (2 layers, hidden=128) with temporal attention on 30-step sliding window</a:t>
            </a:r>
          </a:p>
          <a:p>
            <a:pPr/>
            <a:r>
              <a:rPr sz="1400"/>
              <a:t>Optimizer: If predicted variance &gt; 30.0 and net improvement &gt; 5.0 → Migrate</a:t>
            </a:r>
          </a:p>
        </p:txBody>
      </p:sp>
      <p:sp>
        <p:nvSpPr>
          <p:cNvPr id="152" name="Google Shape;152;p7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3" name="Picture 152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1485136" y="762123"/>
            <a:ext cx="9323598" cy="985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SIMULATION PLATFORM &amp; EXPERIMENTAL SETUP</a:t>
            </a:r>
            <a:endParaRPr b="1"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1716607" y="1901945"/>
            <a:ext cx="9788523" cy="4647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400"/>
              <a:t>Software Stack: Python 3.10, Ryu v4.34, PyTorch v2.0, Mininet v2.3, Open vSwitch</a:t>
            </a:r>
            <a:endParaRPr/>
          </a:p>
          <a:p>
            <a:pPr/>
            <a:r>
              <a:rPr sz="1400"/>
              <a:t>Topology: Fat-Tree k=4 (20 switches, 16 hosts, 3 controllers)</a:t>
            </a:r>
          </a:p>
          <a:p>
            <a:pPr/>
            <a:r>
              <a:rPr sz="1400"/>
              <a:t>Containerized: Docker Compose (3 controller + 1 Mininet + Prometheus + Grafana)</a:t>
            </a:r>
          </a:p>
          <a:p>
            <a:pPr/>
            <a:r>
              <a:rPr sz="1400"/>
              <a:t>Training Data: Synthetic sinusoidal + Gaussian noise (calibrated to live traffic)</a:t>
            </a:r>
          </a:p>
          <a:p>
            <a:pPr/>
            <a:r>
              <a:rPr sz="1400"/>
              <a:t>Model: BiLSTM — input: 30×4, output: 3 predictions, trained 50 epochs, MSE loss</a:t>
            </a:r>
          </a:p>
          <a:p>
            <a:pPr/>
            <a:r>
              <a:rPr sz="1400"/>
              <a:t>Traffic Workloads:</a:t>
            </a:r>
          </a:p>
          <a:p>
            <a:pPr/>
            <a:r>
              <a:rPr sz="1400"/>
              <a:t>Steady — Uniform 5 Mbps baseline</a:t>
            </a:r>
          </a:p>
          <a:p>
            <a:pPr/>
            <a:r>
              <a:rPr sz="1400"/>
              <a:t>Burst — Alternating 20/1 Mbps every 10s</a:t>
            </a:r>
          </a:p>
          <a:p>
            <a:pPr/>
            <a:r>
              <a:rPr sz="1400"/>
              <a:t>Flash Crowd — 2 Mbps + sudden 30 Mbps spike at t=20s</a:t>
            </a:r>
          </a:p>
          <a:p>
            <a:pPr/>
            <a:r>
              <a:rPr sz="1400"/>
              <a:t>Skewed — 70% at 15 Mbps, 30% at 3 Mbps</a:t>
            </a:r>
          </a:p>
          <a:p>
            <a:pPr/>
            <a:r>
              <a:rPr sz="1400"/>
              <a:t>Baselines: Round Robin (stateless) and Least Load (reactive, no prediction)</a:t>
            </a:r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0" name="Picture 159" descr="grafana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200400"/>
            <a:ext cx="3474720" cy="16704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1655761" y="616868"/>
            <a:ext cx="9323598" cy="6381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EXPERIMENTAL RESULTS</a:t>
            </a:r>
            <a:endParaRPr b="1"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1308203" y="1878276"/>
            <a:ext cx="10018713" cy="4433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400"/>
              <a:t>HYDRA-LB reduces load variance by up to 51.2% vs Round Robin, 34.8% vs Least Load</a:t>
            </a:r>
            <a:endParaRPr/>
          </a:p>
          <a:p>
            <a:pPr/>
            <a:r>
              <a:rPr sz="1400"/>
              <a:t>Under Burst: Variance 22.1 vs 45.3 (RR) — 51.2% reduction</a:t>
            </a:r>
          </a:p>
          <a:p>
            <a:pPr/>
            <a:r>
              <a:rPr sz="1400"/>
              <a:t>Under Flash Crowd: Variance 24.6 vs 62.1 (RR) — 60.4% reduction</a:t>
            </a:r>
          </a:p>
          <a:p>
            <a:pPr/>
            <a:r>
              <a:rPr sz="1400"/>
              <a:t>Latency: HYDRA-LB stays &lt; 6.5ms; RR peaks at 12.3ms under flash crowd</a:t>
            </a:r>
          </a:p>
          <a:p>
            <a:pPr/>
            <a:r>
              <a:rPr sz="1400"/>
              <a:t>Migrations: 2–4 targeted per 60s run; 0 under steady traffic (no unnecessary churn)</a:t>
            </a:r>
          </a:p>
        </p:txBody>
      </p:sp>
      <p:sp>
        <p:nvSpPr>
          <p:cNvPr id="166" name="Google Shape;166;p9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7" name="Picture 166" descr="varia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74720"/>
            <a:ext cx="2926080" cy="1739375"/>
          </a:xfrm>
          <a:prstGeom prst="rect">
            <a:avLst/>
          </a:prstGeom>
        </p:spPr>
      </p:pic>
      <p:pic>
        <p:nvPicPr>
          <p:cNvPr id="168" name="Picture 167" descr="latenc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474720"/>
            <a:ext cx="2926080" cy="1738786"/>
          </a:xfrm>
          <a:prstGeom prst="rect">
            <a:avLst/>
          </a:prstGeom>
        </p:spPr>
      </p:pic>
      <p:pic>
        <p:nvPicPr>
          <p:cNvPr id="169" name="Picture 168" descr="migration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74720"/>
            <a:ext cx="2926080" cy="1739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1628775" y="556760"/>
            <a:ext cx="9179959" cy="640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CONCLUSION &amp; FUTURE WORK</a:t>
            </a:r>
            <a:endParaRPr b="1"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1261132" y="2041598"/>
            <a:ext cx="10360028" cy="475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400"/>
              <a:t>HYDRA-LB demonstrates that LSTM-driven proactive optimization is effective for SDN controller load management</a:t>
            </a:r>
            <a:endParaRPr/>
          </a:p>
          <a:p>
            <a:pPr/>
            <a:r>
              <a:rPr sz="1400"/>
              <a:t>Key Results:</a:t>
            </a:r>
          </a:p>
          <a:p>
            <a:pPr/>
            <a:r>
              <a:rPr sz="1400"/>
              <a:t>Up to 51.2% variance reduction over Round Robin</a:t>
            </a:r>
          </a:p>
          <a:p>
            <a:pPr/>
            <a:r>
              <a:rPr sz="1400"/>
              <a:t>Up to 34.8% variance reduction over Least Load</a:t>
            </a:r>
          </a:p>
          <a:p>
            <a:pPr/>
            <a:r>
              <a:rPr sz="1400"/>
              <a:t>Maintains sub-6.5ms latency under dynamic workloads</a:t>
            </a:r>
          </a:p>
          <a:p>
            <a:pPr/>
            <a:r>
              <a:rPr sz="1400"/>
              <a:t>Only 2–4 targeted migrations per experiment (no excessive churn)</a:t>
            </a:r>
          </a:p>
          <a:p>
            <a:pPr/>
            <a:r>
              <a:rPr sz="1400"/>
              <a:t>The variance-aware optimizer with cooldown and cost-adjusted policies prevents both over-migration and under-reaction</a:t>
            </a:r>
          </a:p>
          <a:p>
            <a:pPr/>
            <a:r>
              <a:rPr sz="1400"/>
              <a:t>Future Work:</a:t>
            </a:r>
          </a:p>
          <a:p>
            <a:pPr/>
            <a:r>
              <a:rPr sz="1400"/>
              <a:t>Multi-variate prediction (all 4 features, not just packet rate)</a:t>
            </a:r>
          </a:p>
          <a:p>
            <a:pPr/>
            <a:r>
              <a:rPr sz="1400"/>
              <a:t>Online incremental learning for model adaptation to concept drift</a:t>
            </a:r>
          </a:p>
          <a:p>
            <a:pPr/>
            <a:r>
              <a:rPr sz="1400"/>
              <a:t>Uncertainty-aware optimization using prediction confidence intervals</a:t>
            </a:r>
          </a:p>
          <a:p>
            <a:pPr/>
            <a:r>
              <a:rPr sz="1400"/>
              <a:t>MAC table transfer for zero-downtime migration</a:t>
            </a:r>
          </a:p>
          <a:p>
            <a:pPr/>
            <a:r>
              <a:rPr sz="1400"/>
              <a:t>Evaluation on physical SDN testbeds</a:t>
            </a:r>
          </a:p>
        </p:txBody>
      </p:sp>
      <p:sp>
        <p:nvSpPr>
          <p:cNvPr id="173" name="Google Shape;173;p10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1234702" y="899414"/>
            <a:ext cx="9323598" cy="5549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sz="2800" b="1"/>
              <a:t>BIBLIOGRAPHY</a:t>
            </a:r>
            <a:endParaRPr b="1"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1306889" y="1842601"/>
            <a:ext cx="10018713" cy="4814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0914" marL="30607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100"/>
              <a:t>[1] R. Farahi, "A comprehensive overview of LB methods in SDN," Discover IoT, 2025</a:t>
            </a:r>
            <a:endParaRPr/>
          </a:p>
          <a:p>
            <a:pPr/>
            <a:r>
              <a:rPr sz="1100"/>
              <a:t>[2] M. Belgaum et al., "A systematic review of LB techniques in SDN," IEEE Access, 2020</a:t>
            </a:r>
          </a:p>
          <a:p>
            <a:pPr/>
            <a:r>
              <a:rPr sz="1100"/>
              <a:t>[3] S. Praveen et al., "An adaptive LB technique for multi SDN controllers," ICAISS, 2022</a:t>
            </a:r>
          </a:p>
          <a:p>
            <a:pPr/>
            <a:r>
              <a:rPr sz="1100"/>
              <a:t>[4] R. Gokilabharathi et al., "Efficient LB to enhance QoS in SDN," ICOEI, 2018</a:t>
            </a:r>
          </a:p>
          <a:p>
            <a:pPr/>
            <a:r>
              <a:rPr sz="1100"/>
              <a:t>[5] K. Hou et al., "GWO-BP model for cloud server load prediction," IEEE Access, 2021</a:t>
            </a:r>
          </a:p>
          <a:p>
            <a:pPr/>
            <a:r>
              <a:rPr sz="1100"/>
              <a:t>[6] C.-H. Hsu et al., "Mobility-aware QoS in MEC-based vehicular networks," VTC, 2021</a:t>
            </a:r>
          </a:p>
          <a:p>
            <a:pPr/>
            <a:r>
              <a:rPr sz="1100"/>
              <a:t>[7] A. Schaerf et al., "Adaptive LB: A study in multi-agent learning," JAIR, 1994</a:t>
            </a:r>
          </a:p>
          <a:p>
            <a:pPr/>
            <a:r>
              <a:rPr sz="1100"/>
              <a:t>[8] J. Aweya et al., "An adaptive LB scheme for web servers," IJNM, 2002</a:t>
            </a:r>
          </a:p>
          <a:p>
            <a:pPr/>
            <a:r>
              <a:rPr sz="1100"/>
              <a:t>[9] L. Borzemski et al., "Adaptive request distribution for CDNs," Cybern. Syst., 2007</a:t>
            </a:r>
          </a:p>
          <a:p>
            <a:pPr/>
            <a:r>
              <a:rPr sz="1100"/>
              <a:t>[10] R. Chaudhary et al., "LOADS: Load optimization &amp; anomaly detection," IEEE TVT, 2019</a:t>
            </a:r>
          </a:p>
          <a:p>
            <a:pPr/>
            <a:r>
              <a:rPr sz="1100"/>
              <a:t>[11] M. Mahmoudi et al., "SDN-DVFS: QoS-aware LB in SDN," Cluster Comput., 2022</a:t>
            </a:r>
          </a:p>
          <a:p>
            <a:pPr/>
            <a:r>
              <a:rPr sz="1100"/>
              <a:t>[12] J. Hu et al., "LB with multi-level signals for datacenter networks," IEEE/ACM ToN, 2024</a:t>
            </a:r>
          </a:p>
          <a:p>
            <a:pPr/>
            <a:r>
              <a:rPr sz="1100"/>
              <a:t>[13] C. Santana et al., "Power management by load forecasting," Cluster Comput., 2011</a:t>
            </a:r>
          </a:p>
          <a:p>
            <a:pPr/>
            <a:r>
              <a:rPr sz="1100"/>
              <a:t>[14] S. Sefati et al., "Probabilistic LB in multi-cloud via ML," J. Grid Comput., 2025</a:t>
            </a:r>
          </a:p>
          <a:p>
            <a:pPr/>
            <a:r>
              <a:rPr sz="1100"/>
              <a:t>[15] P. Petrou et al., "Weighted LB for streaming big data," EDBT/ICDT, 2021</a:t>
            </a:r>
          </a:p>
        </p:txBody>
      </p:sp>
      <p:sp>
        <p:nvSpPr>
          <p:cNvPr id="180" name="Google Shape;180;p11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ctrTitle"/>
          </p:nvPr>
        </p:nvSpPr>
        <p:spPr>
          <a:xfrm>
            <a:off x="1700103" y="2090880"/>
            <a:ext cx="8574622" cy="928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Gill Sans"/>
              <a:buNone/>
            </a:pPr>
            <a:r>
              <a:rPr sz="3600" b="1"/>
              <a:t>
THANK YOU</a:t>
            </a:r>
            <a:endParaRPr b="1">
              <a:solidFill>
                <a:schemeClr val="accent2"/>
              </a:solidFill>
            </a:endParaRPr>
          </a:p>
          <a:p>
            <a:pPr algn="ctr"/>
            <a:r>
              <a:rPr sz="2000"/>
              <a:t>Questions?</a:t>
            </a:r>
          </a:p>
        </p:txBody>
      </p:sp>
      <p:sp>
        <p:nvSpPr>
          <p:cNvPr id="186" name="Google Shape;186;p1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87" name="Google Shape;18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150" y="3484847"/>
            <a:ext cx="2689698" cy="2039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2025-11-16T19:10:00Z</dcterms:created>
  <dc:creator>indrajit.pan@hotmail.com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BF6D8DA6F1E14F19802B3297F4935782_12</vt:lpwstr>
  </property>
  <property fmtid="{D5CDD505-2E9C-101B-9397-08002B2CF9AE}" pid="3" name="KSOProductBuildVer">
    <vt:lpwstr>1033-12.2.0.23196</vt:lpwstr>
  </property>
</Properties>
</file>